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7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8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 (0,5 min). Presentarse los dos integrantes y decir el tema: Dashboard 360 del negocio (tema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(2 min). Una sola pregunta: cómo se comportan ventas, reseñas y entregas. Para quién: gestión comercial u operativa. Por qué importa: nueve tablas con relaciones uno-a-muchos; si se unen sin agregar, los importes se inflan. El dataset es histórico: no son ventas actuales ni utilidad.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datos (2 min). Nueve CSV de Olist. Problemas de calidad que condicionaron el diseño: 551 pedidos con varias reseñas (por eso la satisfacción se promedia primero por pedido), 775 pedidos sin ítems, geolocalización con filas repetidas (se calcula un punto aproximado por prefijo postal) y fechas de entrega ausentes.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Arquitectura (2 min). Entrada: nueve CSV. Proceso en tres módulos de src/, orquestados por pipeline.py. Salida: ocho tablas en SQLite que lee el dashboard. Los pagos y las reseñas se agregan por pedido antes de unir. Cada ejecución reemplaza las tablas de resultados, por eso repetir no duplica.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(3 min). Ejecutar python pipeline.py desde la raíz con .venv activo y mostrar las etapas del log. Luego abrir el dashboard con python -m streamlit run dashboard.py. Si hay tiempo, repetir el pipeline y mostrar reports/verificacion_pipeline_completo.json (resultados idénticos). Tener captura o video de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Demo, parte 2. Abrir el dashboard con python -m streamlit run dashboard.py. Mostrar el resumen ejecutivo, la pestaña Explorar pedidos (filtros por mes y estado del cliente) y Calidad y definiciones. Las capturas están en docs/presentacion/capturas como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Resultados (2 min). Hallazgo 1: serie mensual desde 2017-01 (los meses de 2016 tienen cobertura parcial y no hay pedidos entregados en 2016-11). Hallazgo 2: top 5 categorías en naranja; las categorías sin dato se agrupan como sin_categoria. Hallazgo 3: entregas a tiempo por estado entre los ocho con más pedidos; en naranja los estados bajo el promedio total. Entregas a tiempo se mide en días calendario y sobre 96.470 pedidos evaluables.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Calidad y buenas prácticas (1 min). Las nueve pruebas cubren validar_clave, transformar_pedidos y resumir_por_mes. Reconocer con honestidad que indicadores.py y contexto.py aún no tienen pruebas propias: es el siguiente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Valor de negocio (1,5 min). Decisiones que habilita; no se afirma ahorro cuantificado porque no se midió. Próximos pasos: pruebas faltantes, segunda fuente (API) y resumen automático para gerencia con IA local, que son opcionales.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Aprendizajes e IA (1 min). Ajustar este slide a la experiencia real de la pareja. Los ejemplos de errores salen de docs/02_exploracion.md.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Preguntas (5 min). Pueden preguntar por cualquier línea del código. Repasar etl.py, indicadores.py, contexto.py, pipeline.py y dashboard.py.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2024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78240" y="365760"/>
            <a:ext cx="292608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429768"/>
            <a:ext cx="2360815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576072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Dashboard 360 de Olist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57607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6B1A"/>
                </a:solidFill>
                <a:latin typeface="Calibri"/>
              </a:rPr>
              <a:t>Tema elegido: 10 · Dashboard 360 del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760720" cy="85048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 dirty="0" err="1">
                <a:solidFill>
                  <a:srgbClr val="BBBBBB"/>
                </a:solidFill>
                <a:latin typeface="Calibri"/>
              </a:rPr>
              <a:t>Integrantes</a:t>
            </a:r>
            <a:r>
              <a:rPr sz="1500" b="0" i="0" dirty="0">
                <a:solidFill>
                  <a:srgbClr val="BBBBBB"/>
                </a:solidFill>
                <a:latin typeface="Calibri"/>
              </a:rPr>
              <a:t>: Favio</a:t>
            </a:r>
            <a:r>
              <a:rPr lang="es-CL" sz="1500" b="0" i="0" dirty="0">
                <a:solidFill>
                  <a:srgbClr val="BBBBBB"/>
                </a:solidFill>
                <a:latin typeface="Calibri"/>
              </a:rPr>
              <a:t> Jimenez B.</a:t>
            </a:r>
            <a:r>
              <a:rPr sz="1500" b="0" i="0" dirty="0">
                <a:solidFill>
                  <a:srgbClr val="BBBBBB"/>
                </a:solidFill>
                <a:latin typeface="Calibri"/>
              </a:rPr>
              <a:t> · </a:t>
            </a:r>
            <a:r>
              <a:rPr lang="es-CL" sz="1500" dirty="0">
                <a:solidFill>
                  <a:srgbClr val="BBBBBB"/>
                </a:solidFill>
              </a:rPr>
              <a:t>Roberto Muñoz Velasco</a:t>
            </a:r>
          </a:p>
          <a:p>
            <a:pPr>
              <a:spcAft>
                <a:spcPts val="400"/>
              </a:spcAft>
            </a:pPr>
            <a:r>
              <a:rPr sz="1500" b="0" i="0" dirty="0">
                <a:solidFill>
                  <a:srgbClr val="BBBBBB"/>
                </a:solidFill>
                <a:latin typeface="Calibri"/>
              </a:rPr>
              <a:t>DPL1046 · </a:t>
            </a:r>
            <a:r>
              <a:rPr sz="1500" b="0" i="0" dirty="0" err="1">
                <a:solidFill>
                  <a:srgbClr val="BBBBBB"/>
                </a:solidFill>
                <a:latin typeface="Calibri"/>
              </a:rPr>
              <a:t>Programación</a:t>
            </a:r>
            <a:r>
              <a:rPr sz="1500" b="0" i="0" dirty="0">
                <a:solidFill>
                  <a:srgbClr val="BBBBB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BBBBB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BBBBBB"/>
                </a:solidFill>
                <a:latin typeface="Calibri"/>
              </a:rPr>
              <a:t> Python y </a:t>
            </a:r>
            <a:r>
              <a:rPr sz="1500" b="0" i="0" dirty="0" err="1">
                <a:solidFill>
                  <a:srgbClr val="BBBBBB"/>
                </a:solidFill>
                <a:latin typeface="Calibri"/>
              </a:rPr>
              <a:t>Manipulación</a:t>
            </a:r>
            <a:r>
              <a:rPr sz="1500" b="0" i="0" dirty="0">
                <a:solidFill>
                  <a:srgbClr val="BBBBBB"/>
                </a:solidFill>
                <a:latin typeface="Calibri"/>
              </a:rPr>
              <a:t> de Datos</a:t>
            </a:r>
          </a:p>
          <a:p>
            <a:pPr algn="l">
              <a:spcAft>
                <a:spcPts val="400"/>
              </a:spcAft>
            </a:pPr>
            <a:r>
              <a:rPr sz="1500" b="0" i="0" dirty="0">
                <a:solidFill>
                  <a:srgbClr val="BBBBBB"/>
                </a:solidFill>
                <a:latin typeface="Calibri"/>
              </a:rPr>
              <a:t>PhD. Juan Manuel Rozas · [</a:t>
            </a:r>
            <a:r>
              <a:rPr sz="1500" b="0" i="0" dirty="0" err="1">
                <a:solidFill>
                  <a:srgbClr val="BBBBBB"/>
                </a:solidFill>
                <a:latin typeface="Calibri"/>
              </a:rPr>
              <a:t>fecha</a:t>
            </a:r>
            <a:r>
              <a:rPr sz="1500" b="0" i="0" dirty="0">
                <a:solidFill>
                  <a:srgbClr val="BBBBBB"/>
                </a:solidFill>
                <a:latin typeface="Calibri"/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6702552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2560320"/>
            <a:ext cx="4754880" cy="2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Ventas, satisfacción y entregas de Olist en un solo panorama ejecutivo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9 tablas · 1 comando · 1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El problema de negocio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Una pregunta de gestión sobre nueve tablas que no se pueden sumar sin cuidado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6700000" cy="4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2200"/>
              </a:spcAft>
            </a:pPr>
            <a:r>
              <a:rPr sz="20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Pregunta de negocio: </a:t>
            </a:r>
            <a:r>
              <a:rPr sz="2000" b="0" i="0">
                <a:solidFill>
                  <a:srgbClr val="444444"/>
                </a:solidFill>
                <a:latin typeface="Calibri"/>
              </a:rPr>
              <a:t>¿Cómo se comportan las ventas, las reseñas y las entregas de Olist, y qué categorías y regiones concentran las ventas?</a:t>
            </a:r>
          </a:p>
          <a:p>
            <a:pPr algn="l">
              <a:spcAft>
                <a:spcPts val="2200"/>
              </a:spcAft>
            </a:pPr>
            <a:r>
              <a:rPr sz="20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¿Para quién? </a:t>
            </a:r>
            <a:r>
              <a:rPr sz="2000" b="0" i="0">
                <a:solidFill>
                  <a:srgbClr val="444444"/>
                </a:solidFill>
                <a:latin typeface="Calibri"/>
              </a:rPr>
              <a:t>Para la persona responsable de la gestión comercial u operativa.</a:t>
            </a:r>
          </a:p>
          <a:p>
            <a:pPr algn="l">
              <a:spcAft>
                <a:spcPts val="2200"/>
              </a:spcAft>
            </a:pPr>
            <a:r>
              <a:rPr sz="20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¿Por qué importa? </a:t>
            </a:r>
            <a:r>
              <a:rPr sz="2000" b="0" i="0">
                <a:solidFill>
                  <a:srgbClr val="444444"/>
                </a:solidFill>
                <a:latin typeface="Calibri"/>
              </a:rPr>
              <a:t>Los datos vienen en nueve tablas. Un pedido tiene varios ítems, pagos y reseñas: unirlos sin agregar antes multiplica los importes.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0000" y="1691640"/>
            <a:ext cx="4043360" cy="14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0000" y="1751640"/>
            <a:ext cx="3803360" cy="6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6B1A"/>
                </a:solidFill>
                <a:latin typeface="Calibri"/>
              </a:rPr>
              <a:t>96.478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0000" y="2431640"/>
            <a:ext cx="380336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pedidos entregados analizados (97,02 % de los 99.441 pedidos)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0000" y="3211640"/>
            <a:ext cx="4043360" cy="14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0000" y="3271640"/>
            <a:ext cx="3803360" cy="6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6B1A"/>
                </a:solidFill>
                <a:latin typeface="Calibri"/>
              </a:rPr>
              <a:t>13,2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0000" y="3951640"/>
            <a:ext cx="380336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GMV sin flete, en la moneda original de los datos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0000" y="4731640"/>
            <a:ext cx="4043360" cy="14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0000" y="4791640"/>
            <a:ext cx="3803360" cy="6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6B1A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0000" y="5471640"/>
            <a:ext cx="380336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tablas de Olist integradas sin duplicar importes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Los datos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Nueve tablas CSV, 1,55 millones de filas y problemas de calidad reales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640000"/>
          <a:ext cx="7350000" cy="3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marL="70000" marR="70000" marT="25000" marB="25000" anchor="ctr"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 marL="70000" marR="70000" marT="25000" marB="25000" anchor="ctr"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 marL="70000" marR="70000" marT="25000" marB="25000" anchor="ctr"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Aporte al dashboard</a:t>
                      </a:r>
                    </a:p>
                  </a:txBody>
                  <a:tcPr marL="70000" marR="70000" marT="25000" marB="25000" anchor="ctr">
                    <a:solidFill>
                      <a:srgbClr val="FF6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99.441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Estado y fechas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order_items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112.650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Precio, flete y vendedor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order_payments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103.886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Pagos por pedido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order_reviews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99.224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Puntaje de satisfacción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32.951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Categoría del producto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category_translation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Traducción de categorías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99.441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Cliente y estado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3.095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Vendedor y ubicación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geolocation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1.000.163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44444"/>
                          </a:solidFill>
                          <a:latin typeface="Calibri"/>
                        </a:rPr>
                        <a:t>Coordenadas por prefijo</a:t>
                      </a:r>
                    </a:p>
                  </a:txBody>
                  <a:tcPr marL="70000" marR="70000" marT="25000" marB="25000" anchor="ctr">
                    <a:solidFill>
                      <a:srgbClr val="FF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520000"/>
            <a:ext cx="7350000" cy="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Total: 1.550.922 filas · 126 MB · los CSV originales no se modifican.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0000" y="1640000"/>
            <a:ext cx="3493360" cy="448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0000" y="1710000"/>
            <a:ext cx="327336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Calidad real de los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0000" y="2200000"/>
            <a:ext cx="3273360" cy="3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775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 pedidos sin ítems</a:t>
            </a:r>
          </a:p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551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 pedidos con más de una reseña</a:t>
            </a:r>
          </a:p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261.831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 filas repetidas en geolocalización</a:t>
            </a:r>
          </a:p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2.965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 pedidos sin fecha de entrega al cliente</a:t>
            </a:r>
          </a:p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58,7 %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 de las reseñas sin comentario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Arquitectura del pipeline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Un comando recorre entrada, proceso y salida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700000"/>
            <a:ext cx="3300000" cy="275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640" y="1760000"/>
            <a:ext cx="310000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40" y="2250000"/>
            <a:ext cx="3060000" cy="20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9 CSV de Olist en data/raw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Solo lectura: los originales no se modifican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config/settings.json: nivel y archivo del log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98640" y="2800000"/>
            <a:ext cx="295000" cy="360000"/>
          </a:xfrm>
          <a:prstGeom prst="rightArrow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43640" y="1700000"/>
            <a:ext cx="3300000" cy="275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640" y="1760000"/>
            <a:ext cx="310000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PROCESO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3640" y="2250000"/>
            <a:ext cx="3060000" cy="20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etl.py: valida claves, filtra entregados y agrega ítems por pedido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indicadores.py: reseñas por pedido, entregas y categorías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contexto.py: clientes, pagos, vendedores y geografía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93640" y="2800000"/>
            <a:ext cx="295000" cy="360000"/>
          </a:xfrm>
          <a:prstGeom prst="rightArrow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38640" y="1700000"/>
            <a:ext cx="3300000" cy="275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8640" y="1760000"/>
            <a:ext cx="310000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SALIDA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8640" y="2250000"/>
            <a:ext cx="3060000" cy="20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SQLite: 8 tablas en data/processed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Dashboard en Streamlit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reports/pipeline.log y evidencias de repetición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00000"/>
            <a:ext cx="11094720" cy="15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Herramientas: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Python 3.12 · pandas · sqlite3 · Streamlit y Altair · pytest · logging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Carpetas: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pipeline.py · src/ · tests/ · config/ · reports/ · dashboard.py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Control: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cada unión se valida (uno a uno o muchos a uno) y los totales de pedidos, categorías y vendedores se reconcilian con el GMV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Demo en vivo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Un solo comando: python pipeline.py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40000"/>
            <a:ext cx="11094720" cy="22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15875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8640" y="1720000"/>
            <a:ext cx="10794720" cy="2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6B1A"/>
                </a:solidFill>
                <a:latin typeface="Consolas"/>
              </a:rPr>
              <a:t>$ </a:t>
            </a:r>
            <a:r>
              <a:rPr sz="1400" b="1" i="0">
                <a:solidFill>
                  <a:srgbClr val="FFFFFF"/>
                </a:solidFill>
                <a:latin typeface="Consolas"/>
              </a:rPr>
              <a:t>python pipeline.py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DDDDD"/>
                </a:solidFill>
                <a:latin typeface="Consolas"/>
              </a:rPr>
              <a:t>2026-10-27 10:20:02,531 INFO dashboard360: Inicio del pipeline.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DDDDD"/>
                </a:solidFill>
                <a:latin typeface="Consolas"/>
              </a:rPr>
              <a:t>2026-10-27 10:20:02,531 INFO dashboard360: Procesando pedidos e ítems.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DDDDD"/>
                </a:solidFill>
                <a:latin typeface="Consolas"/>
              </a:rPr>
              <a:t>2026-10-27 10:20:07,481 INFO dashboard360: Calculando los cinco indicadores.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DDDDD"/>
                </a:solidFill>
                <a:latin typeface="Consolas"/>
              </a:rPr>
              <a:t>2026-10-27 10:20:09,013 INFO dashboard360: Integrando clientes, pagos y geolocalización.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DDDDD"/>
                </a:solidFill>
                <a:latin typeface="Consolas"/>
              </a:rPr>
              <a:t>2026-10-27 10:20:12,123 INFO dashboard360: Pipeline completado correctamente.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6B1A"/>
                </a:solidFill>
                <a:latin typeface="Consolas"/>
              </a:rPr>
              <a:t>$ </a:t>
            </a:r>
            <a:r>
              <a:rPr sz="1400" b="1" i="0">
                <a:solidFill>
                  <a:srgbClr val="FFFFFF"/>
                </a:solidFill>
                <a:latin typeface="Consolas"/>
              </a:rPr>
              <a:t>python -m streamlit run dashboard.py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0000"/>
            <a:ext cx="5422360" cy="22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640" y="4090000"/>
            <a:ext cx="520236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Qué se ve en vivo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640" y="4560000"/>
            <a:ext cx="5202360" cy="1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Etapas en la terminal y cierre «Pipeline completado correctamente»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Dashboard: resumen ejecutivo, exploración y calidad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Repetir el comando: mismas 8 tablas y mismos hashes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1000" y="4020000"/>
            <a:ext cx="5422360" cy="22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1000" y="4090000"/>
            <a:ext cx="520236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Respaldo y tiempos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1000" y="4560000"/>
            <a:ext cx="5202360" cy="1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El pipeline tarda unos 10 segundos (según pipeline.log)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Plan B: capturas en docs/presentacion/capturas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Ensayar el día antes, con el computador cargado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Demo en vivo: el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Los mismos números del pipeline, explorables en el navegador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6</a:t>
            </a:r>
          </a:p>
        </p:txBody>
      </p:sp>
      <p:pic>
        <p:nvPicPr>
          <p:cNvPr id="14" name="Picture 13" descr="dashboard_resum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40000"/>
            <a:ext cx="5422360" cy="4129484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5829484"/>
            <a:ext cx="542236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Resumen ejecutivo: cinco indicadores, evolución mensual y categorías</a:t>
            </a:r>
          </a:p>
        </p:txBody>
      </p:sp>
      <p:pic>
        <p:nvPicPr>
          <p:cNvPr id="16" name="Picture 15" descr="dashboard_calid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000" y="1640000"/>
            <a:ext cx="5422360" cy="4129484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21000" y="5829484"/>
            <a:ext cx="542236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Calidad y definiciones: controles de cobertura y cómo leer cada indicador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Resultados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Ventas estables, categorías concentradas y entregas menos puntuales en Río y Bahía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20000"/>
            <a:ext cx="3570000" cy="465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40" y="1660000"/>
            <a:ext cx="3390000" cy="5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1 · Las ventas se estabilizan</a:t>
            </a:r>
          </a:p>
        </p:txBody>
      </p:sp>
      <p:pic>
        <p:nvPicPr>
          <p:cNvPr id="16" name="Picture 15" descr="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40" y="2250000"/>
            <a:ext cx="3370000" cy="21602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640" y="4480000"/>
            <a:ext cx="3390000" cy="17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Vemos: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El GMV mensual pasó de 0,11 M (ene-2017) a entre 0,83 M y 0,98 M al mes en 2018.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Significa: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Hay una base mensual estable; con un solo noviembre en los datos no se puede afirmar estacionalidad.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8640" y="1620000"/>
            <a:ext cx="3570000" cy="465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98640" y="1660000"/>
            <a:ext cx="3390000" cy="5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2 · Cinco categorías suman el 39,8 %</a:t>
            </a:r>
          </a:p>
        </p:txBody>
      </p:sp>
      <p:pic>
        <p:nvPicPr>
          <p:cNvPr id="20" name="Picture 19" descr="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640" y="2250000"/>
            <a:ext cx="3370000" cy="21602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98640" y="4480000"/>
            <a:ext cx="3390000" cy="17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Vemos: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health_beauty, watches_gifts y otras tres suman 5,27 M de 13,22 M de GMV.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Significa: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Son las candidatas para priorizar en surtido y logística.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640" y="1620000"/>
            <a:ext cx="3570000" cy="465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58640" y="1660000"/>
            <a:ext cx="3390000" cy="5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3 · Río y Bahía entregan menos a tiempo</a:t>
            </a:r>
          </a:p>
        </p:txBody>
      </p:sp>
      <p:pic>
        <p:nvPicPr>
          <p:cNvPr id="24" name="Picture 23" descr="h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640" y="2250000"/>
            <a:ext cx="3370000" cy="21602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58640" y="4480000"/>
            <a:ext cx="3390000" cy="17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Vemos: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93,23 % de entregas a tiempo en total; RJ y BA bajan a 87,9 % y 87,8 %, y SP llega a 95,5 %.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Significa: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Conviene revisar primero la logística hacia esos estados.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Calidad y buenas prácticas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Calidad verificable: validación, logging, 9 pruebas y repetición sin duplicados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7050000" cy="4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☑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Validación: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claves nulas o duplicadas, importes negativos, uniones validadas y totales reconciliados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☑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Errores y logging: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pipeline.log en la terminal y en archivo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☑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Pruebas pytest: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9 passed, tres por cada función de transformación de etl.py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☑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Archivos del proyecto: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requirements.txt, README y config/settings.json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☑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Buenas prácticas: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rutas relativas, sin credenciales en el código y .env ignorado por Git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☑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Repetible: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dos ejecuciones, ocho tablas, mismos hashes SHA-256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0000" y="1691640"/>
            <a:ext cx="3793360" cy="20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0000" y="1760000"/>
            <a:ext cx="3593360" cy="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6B1A"/>
                </a:solidFill>
                <a:latin typeface="Calibri"/>
              </a:rPr>
              <a:t>9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0000" y="2700000"/>
            <a:ext cx="3593360" cy="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python -m pytest -v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pruebas con tablas pequeñas en memoria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0000" y="3880000"/>
            <a:ext cx="3793360" cy="2100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0000" y="3950000"/>
            <a:ext cx="3593360" cy="21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Siguiente paso de calidad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Extraer funciones pequeñas de indicadores.py y contexto.py y probarlas, igual que etl.py.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Valor de negocio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De nueve tablas dispersas a un panorama ejecutivo repetible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3570000" cy="43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640" y="1760000"/>
            <a:ext cx="3370000" cy="4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6B1A"/>
                </a:solidFill>
                <a:latin typeface="Calibri"/>
              </a:rPr>
              <a:t>Decisión que permite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40" y="2330000"/>
            <a:ext cx="3370000" cy="3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Dónde reforzar la logística: RJ y BA entregan a tiempo 87,9 % y 87,8 %.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Qué categorías priorizar: las cinco principales concentran el 39,8 % del GMV.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8640" y="1691640"/>
            <a:ext cx="3570000" cy="43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8640" y="1760000"/>
            <a:ext cx="3370000" cy="4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6B1A"/>
                </a:solidFill>
                <a:latin typeface="Calibri"/>
              </a:rPr>
              <a:t>Tiempo y esfuerzo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8640" y="2330000"/>
            <a:ext cx="3370000" cy="3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Un comando reemplaza unir nueve tablas a mano.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El pipeline completo tarda unos 10 segundos y entrega las mismas cifras en cada ejecución.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8640" y="1691640"/>
            <a:ext cx="3570000" cy="43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8640" y="1760000"/>
            <a:ext cx="3370000" cy="45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6B1A"/>
                </a:solidFill>
                <a:latin typeface="Calibri"/>
              </a:rPr>
              <a:t>Próximos pasos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2330000"/>
            <a:ext cx="3370000" cy="3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Pruebas para indicadores.py y contexto.py.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Segunda fuente: una API externa (opcional).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Resumen para gerencia con IA local (opcional).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Escritura atómica de la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Aprendizajes e IA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00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La IA como copiloto: nosotros escribimos, ejecutamos y comprobamos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50000"/>
            <a:ext cx="5437360" cy="22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640" y="1720000"/>
            <a:ext cx="521736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Cómo usamos la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640" y="2190000"/>
            <a:ext cx="5217360" cy="1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r>
              <a:rPr lang="en-US" dirty="0"/>
              <a:t>Codex (VS Code) </a:t>
            </a:r>
            <a:r>
              <a:rPr lang="en-US" dirty="0" err="1"/>
              <a:t>ayudó</a:t>
            </a:r>
            <a:r>
              <a:rPr lang="en-US" dirty="0"/>
              <a:t> a </a:t>
            </a:r>
            <a:r>
              <a:rPr lang="en-US" dirty="0" err="1"/>
              <a:t>escribir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. Claude </a:t>
            </a:r>
            <a:r>
              <a:rPr lang="en-US" dirty="0" err="1"/>
              <a:t>ayudó</a:t>
            </a:r>
            <a:r>
              <a:rPr lang="en-US" dirty="0"/>
              <a:t> a </a:t>
            </a:r>
            <a:r>
              <a:rPr lang="en-US" dirty="0" err="1"/>
              <a:t>revisar</a:t>
            </a:r>
            <a:r>
              <a:rPr lang="en-US" dirty="0"/>
              <a:t> el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desarrollar</a:t>
            </a:r>
            <a:r>
              <a:rPr lang="en-US" dirty="0"/>
              <a:t> la </a:t>
            </a:r>
            <a:r>
              <a:rPr lang="en-US" dirty="0" err="1"/>
              <a:t>presentación</a:t>
            </a:r>
            <a:r>
              <a:rPr lang="en-US" dirty="0"/>
              <a:t> y </a:t>
            </a:r>
            <a:r>
              <a:rPr lang="en-US" dirty="0" err="1"/>
              <a:t>corregir</a:t>
            </a:r>
            <a:r>
              <a:rPr lang="en-US" dirty="0"/>
              <a:t> la </a:t>
            </a:r>
            <a:r>
              <a:rPr lang="en-US" dirty="0" err="1"/>
              <a:t>documentación</a:t>
            </a:r>
            <a:r>
              <a:rPr lang="en-US" dirty="0"/>
              <a:t>. Las </a:t>
            </a:r>
            <a:r>
              <a:rPr lang="en-US" dirty="0" err="1"/>
              <a:t>instalaciones</a:t>
            </a:r>
            <a:r>
              <a:rPr lang="en-US" dirty="0"/>
              <a:t>, las </a:t>
            </a:r>
            <a:r>
              <a:rPr lang="en-US" dirty="0" err="1"/>
              <a:t>ejecuciones</a:t>
            </a:r>
            <a:r>
              <a:rPr lang="en-US" dirty="0"/>
              <a:t> y la </a:t>
            </a:r>
            <a:r>
              <a:rPr lang="en-US" dirty="0" err="1"/>
              <a:t>verificación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 las </a:t>
            </a:r>
            <a:r>
              <a:rPr lang="en-US" dirty="0" err="1"/>
              <a:t>hicimos</a:t>
            </a:r>
            <a:r>
              <a:rPr lang="en-US" dirty="0"/>
              <a:t> </a:t>
            </a:r>
            <a:r>
              <a:rPr lang="en-US" dirty="0" err="1"/>
              <a:t>nosotros</a:t>
            </a:r>
            <a:r>
              <a:rPr lang="en-US" dirty="0"/>
              <a:t> a mano.</a:t>
            </a:r>
            <a:r>
              <a:rPr lang="es-CL" dirty="0"/>
              <a:t>​</a:t>
            </a:r>
            <a:endParaRPr sz="16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6000" y="1650000"/>
            <a:ext cx="5437360" cy="22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6000" y="1720000"/>
            <a:ext cx="521736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Qué corregimos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6000" y="2066544"/>
            <a:ext cx="5217360" cy="1723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r>
              <a:rPr lang="en-US" dirty="0" err="1"/>
              <a:t>Errores</a:t>
            </a:r>
            <a:r>
              <a:rPr lang="en-US" dirty="0"/>
              <a:t> reales: un </a:t>
            </a:r>
            <a:r>
              <a:rPr lang="en-US" dirty="0" err="1"/>
              <a:t>NameError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nombre</a:t>
            </a:r>
            <a:r>
              <a:rPr lang="en-US" dirty="0"/>
              <a:t> mal </a:t>
            </a:r>
            <a:r>
              <a:rPr lang="en-US" dirty="0" err="1"/>
              <a:t>escrito</a:t>
            </a:r>
            <a:r>
              <a:rPr lang="en-US" dirty="0"/>
              <a:t>, un </a:t>
            </a:r>
            <a:r>
              <a:rPr lang="en-US" dirty="0" err="1"/>
              <a:t>ciclo</a:t>
            </a:r>
            <a:r>
              <a:rPr lang="en-US" dirty="0"/>
              <a:t> mal </a:t>
            </a:r>
            <a:r>
              <a:rPr lang="en-US" dirty="0" err="1"/>
              <a:t>indentado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dejaba</a:t>
            </a:r>
            <a:r>
              <a:rPr lang="en-US" dirty="0"/>
              <a:t> 7 </a:t>
            </a:r>
            <a:r>
              <a:rPr lang="en-US" dirty="0" err="1"/>
              <a:t>filas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15 y </a:t>
            </a:r>
            <a:r>
              <a:rPr lang="en-US" dirty="0" err="1"/>
              <a:t>ValueError</a:t>
            </a:r>
            <a:r>
              <a:rPr lang="en-US" dirty="0"/>
              <a:t> </a:t>
            </a:r>
            <a:r>
              <a:rPr lang="en-US" dirty="0" err="1"/>
              <a:t>escrito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minúscula</a:t>
            </a:r>
            <a:r>
              <a:rPr lang="en-US" dirty="0"/>
              <a:t>. También </a:t>
            </a:r>
            <a:r>
              <a:rPr lang="en-US" dirty="0" err="1"/>
              <a:t>librerías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faltaban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entorno</a:t>
            </a:r>
            <a:r>
              <a:rPr lang="en-US" dirty="0"/>
              <a:t> y un pandas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instalado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mezclaba</a:t>
            </a:r>
            <a:r>
              <a:rPr lang="en-US" dirty="0"/>
              <a:t> con el del </a:t>
            </a:r>
            <a:r>
              <a:rPr lang="en-US" dirty="0" err="1"/>
              <a:t>proyecto</a:t>
            </a:r>
            <a:r>
              <a:rPr lang="en-US" dirty="0"/>
              <a:t>; lo </a:t>
            </a:r>
            <a:r>
              <a:rPr lang="en-US" dirty="0" err="1"/>
              <a:t>resolvimos</a:t>
            </a:r>
            <a:r>
              <a:rPr lang="en-US" dirty="0"/>
              <a:t> con un </a:t>
            </a:r>
            <a:r>
              <a:rPr lang="en-US" dirty="0" err="1"/>
              <a:t>entorno</a:t>
            </a:r>
            <a:r>
              <a:rPr lang="en-US" dirty="0"/>
              <a:t> virtual </a:t>
            </a:r>
            <a:r>
              <a:rPr lang="en-US" dirty="0" err="1"/>
              <a:t>en</a:t>
            </a:r>
            <a:r>
              <a:rPr lang="en-US" dirty="0"/>
              <a:t> Python 3.12.</a:t>
            </a:r>
            <a:r>
              <a:rPr lang="es-CL" dirty="0"/>
              <a:t>​</a:t>
            </a:r>
            <a:endParaRPr sz="16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3980000"/>
            <a:ext cx="5437360" cy="22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640" y="4050000"/>
            <a:ext cx="521736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Qué aprendimos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640" y="4520000"/>
            <a:ext cx="5217360" cy="1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ejecute</a:t>
            </a:r>
            <a:r>
              <a:rPr lang="en-US" dirty="0"/>
              <a:t> sin </a:t>
            </a:r>
            <a:r>
              <a:rPr lang="en-US" dirty="0" err="1"/>
              <a:t>errores</a:t>
            </a:r>
            <a:r>
              <a:rPr lang="en-US" dirty="0"/>
              <a:t> no </a:t>
            </a:r>
            <a:r>
              <a:rPr lang="en-US" dirty="0" err="1"/>
              <a:t>prueba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resultado</a:t>
            </a:r>
            <a:r>
              <a:rPr lang="en-US" dirty="0"/>
              <a:t> sea </a:t>
            </a:r>
            <a:r>
              <a:rPr lang="en-US" dirty="0" err="1"/>
              <a:t>correcto</a:t>
            </a:r>
            <a:r>
              <a:rPr lang="en-US" dirty="0"/>
              <a:t>: se </a:t>
            </a:r>
            <a:r>
              <a:rPr lang="en-US" dirty="0" err="1"/>
              <a:t>comprueban</a:t>
            </a:r>
            <a:r>
              <a:rPr lang="en-US" dirty="0"/>
              <a:t> </a:t>
            </a:r>
            <a:r>
              <a:rPr lang="en-US" dirty="0" err="1"/>
              <a:t>conteos</a:t>
            </a:r>
            <a:r>
              <a:rPr lang="en-US" dirty="0"/>
              <a:t> y </a:t>
            </a:r>
            <a:r>
              <a:rPr lang="en-US" dirty="0" err="1"/>
              <a:t>totales</a:t>
            </a:r>
            <a:r>
              <a:rPr lang="en-US" dirty="0"/>
              <a:t>. Se </a:t>
            </a:r>
            <a:r>
              <a:rPr lang="en-US" dirty="0" err="1"/>
              <a:t>agrupa</a:t>
            </a:r>
            <a:r>
              <a:rPr lang="en-US" dirty="0"/>
              <a:t> antes de </a:t>
            </a:r>
            <a:r>
              <a:rPr lang="en-US" dirty="0" err="1"/>
              <a:t>unir</a:t>
            </a:r>
            <a:r>
              <a:rPr lang="en-US" dirty="0"/>
              <a:t>, para no </a:t>
            </a:r>
            <a:r>
              <a:rPr lang="en-US" dirty="0" err="1"/>
              <a:t>multiplicar</a:t>
            </a:r>
            <a:r>
              <a:rPr lang="en-US" dirty="0"/>
              <a:t> </a:t>
            </a:r>
            <a:r>
              <a:rPr lang="en-US" dirty="0" err="1"/>
              <a:t>importes</a:t>
            </a:r>
            <a:r>
              <a:rPr lang="en-US" dirty="0"/>
              <a:t>. Un </a:t>
            </a:r>
            <a:r>
              <a:rPr lang="en-US" dirty="0" err="1"/>
              <a:t>entorno</a:t>
            </a:r>
            <a:r>
              <a:rPr lang="en-US" dirty="0"/>
              <a:t> virtual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choques</a:t>
            </a:r>
            <a:r>
              <a:rPr lang="en-US" dirty="0"/>
              <a:t> de </a:t>
            </a:r>
            <a:r>
              <a:rPr lang="en-US" dirty="0" err="1"/>
              <a:t>versiones</a:t>
            </a:r>
            <a:r>
              <a:rPr lang="en-US" dirty="0"/>
              <a:t>.</a:t>
            </a:r>
            <a:r>
              <a:rPr lang="es-CL" dirty="0"/>
              <a:t>​</a:t>
            </a:r>
            <a:endParaRPr sz="16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06000" y="3980000"/>
            <a:ext cx="5437360" cy="2200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6000" y="4050000"/>
            <a:ext cx="5217360" cy="4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Qué haríamos distinto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0280" y="4520000"/>
            <a:ext cx="5217360" cy="1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r>
              <a:rPr lang="en-US" dirty="0" err="1"/>
              <a:t>Escribir</a:t>
            </a:r>
            <a:r>
              <a:rPr lang="en-US" dirty="0"/>
              <a:t> las </a:t>
            </a:r>
            <a:r>
              <a:rPr lang="en-US" dirty="0" err="1"/>
              <a:t>pruebas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</a:t>
            </a:r>
            <a:r>
              <a:rPr lang="en-US" dirty="0" err="1"/>
              <a:t>inicio</a:t>
            </a:r>
            <a:r>
              <a:rPr lang="en-US" dirty="0"/>
              <a:t>, también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indicadores</a:t>
            </a:r>
            <a:r>
              <a:rPr lang="en-US" dirty="0"/>
              <a:t> y la </a:t>
            </a:r>
            <a:r>
              <a:rPr lang="en-US" dirty="0" err="1"/>
              <a:t>integración</a:t>
            </a:r>
            <a:r>
              <a:rPr lang="en-US" dirty="0"/>
              <a:t> de </a:t>
            </a:r>
            <a:r>
              <a:rPr lang="en-US" dirty="0" err="1"/>
              <a:t>tablas</a:t>
            </a:r>
            <a:r>
              <a:rPr lang="en-US" dirty="0"/>
              <a:t>, </a:t>
            </a:r>
            <a:r>
              <a:rPr lang="en-US" dirty="0" err="1"/>
              <a:t>guardar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SQLite de forma </a:t>
            </a:r>
            <a:r>
              <a:rPr lang="en-US" dirty="0" err="1"/>
              <a:t>atómica</a:t>
            </a:r>
            <a:r>
              <a:rPr lang="en-US" dirty="0"/>
              <a:t> y </a:t>
            </a:r>
            <a:r>
              <a:rPr lang="en-US" dirty="0" err="1"/>
              <a:t>sumar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fuente</a:t>
            </a:r>
            <a:r>
              <a:rPr lang="en-US" dirty="0"/>
              <a:t> de datos.</a:t>
            </a:r>
            <a:r>
              <a:rPr lang="es-CL" dirty="0"/>
              <a:t>​</a:t>
            </a:r>
            <a:endParaRPr sz="1600" b="0" i="0" dirty="0">
              <a:solidFill>
                <a:srgbClr val="44444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64040" y="274320"/>
            <a:ext cx="2331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29184"/>
            <a:ext cx="1967345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1106424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1">
                <a:solidFill>
                  <a:srgbClr val="FF6B1A"/>
                </a:solidFill>
                <a:latin typeface="Calibri"/>
              </a:rPr>
              <a:t>5 minutos · pueden preguntar por cualquier parte del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 Light"/>
              </a:rPr>
              <a:t>DPL1046 · Programación en Python y Manipulación de Datos · PhD. Juan Manuel Rozas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1993</Words>
  <Application>Microsoft Office PowerPoint</Application>
  <PresentationFormat>Widescreen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favio jimenez</dc:creator>
  <cp:keywords/>
  <dc:description>generated using python-pptx</dc:description>
  <cp:lastModifiedBy>favio jimenez</cp:lastModifiedBy>
  <cp:revision>2</cp:revision>
  <dcterms:created xsi:type="dcterms:W3CDTF">2013-01-27T09:14:16Z</dcterms:created>
  <dcterms:modified xsi:type="dcterms:W3CDTF">2026-10-27T17:40:39Z</dcterms:modified>
  <cp:category/>
</cp:coreProperties>
</file>