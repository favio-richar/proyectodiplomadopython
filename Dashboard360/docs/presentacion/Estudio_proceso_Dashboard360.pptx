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 de estudio personal. La presentación oficial para el profesor es Dashboard360_presentacion.pptx.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fase se ejecutó y se comprobó antes de pasar a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pedido con 2 ítems y 3 pagos produce 6 filas si se unen sin agregar. El GMV se infla.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comandos son los de la terminal Bash de MSYS2 UCRT64. PowerShell tiene otros comandos.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Comando: python src/explorar_datos.py. Cada ejecución reemplaza los reportes.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Comando: python pipeline.py. El ETL lee directamente data/raw.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Memorizar estas definiciones: son lo primero que preguntan en la defensa.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Comando: python pipeline.py. Secuencia: ejecutar_etl, generar_indicadores, incorporar_contexto.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Comando: python -m pytest -v. Salida real: 9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Comando: python -m streamlit run dashboard.py. Requiere haber ejecutado antes python pipeline.py.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25 preguntas completas están en Referencia_rapida_Dashboard360.md.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5760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Dashboard 360 · Olist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Guía visual de estudio: cómo se desarrolló el proyecto, paso a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Comandos ejecutados · código explicado · errores y lecciones · preguntas de defensa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DPL1046 · Diplomado en Ingeniería de Datos con Python · UDLA · Material de estudio (no es la presentación al profesor)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La ruta: ocho fases, una detrás de 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Visión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1737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48640" cy="45720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0876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Entorno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venv, pip,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51760" cy="1737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508760"/>
            <a:ext cx="548640" cy="45720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50876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Exploración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4884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explorar_datos.py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51760" cy="1737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508760"/>
            <a:ext cx="548640" cy="45720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150876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ETL + 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4884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etl.py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371600"/>
            <a:ext cx="2651760" cy="1737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508760"/>
            <a:ext cx="548640" cy="45720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19" y="150876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Indicadores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4884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indicadores.py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2651760" cy="1737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3520440"/>
            <a:ext cx="548640" cy="45720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52044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Nueve tablas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6052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contexto.py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383280"/>
            <a:ext cx="2651760" cy="1737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74720" y="3520440"/>
            <a:ext cx="548640" cy="45720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52044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Config + 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16052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pipeline.py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383280"/>
            <a:ext cx="2651760" cy="1737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3520440"/>
            <a:ext cx="548640" cy="45720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352044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Pruebas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16052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pytest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383280"/>
            <a:ext cx="2651760" cy="1737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35440" y="3520440"/>
            <a:ext cx="548640" cy="45720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19" y="352044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16052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Streamlit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Después: README, revisión contra la rúbrica y presentación. Regla de oro de todo el proyecto: agregar antes de unir y comprobar después.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El caso: ver el negocio de Olist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Visión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Olist:</a:t>
            </a:r>
            <a:r>
              <a:rPr sz="1700">
                <a:solidFill>
                  <a:srgbClr val="1F2937"/>
                </a:solidFill>
                <a:latin typeface="Calibri"/>
              </a:rPr>
              <a:t> marketplace de comercio electrónico de Brasil.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Datos:</a:t>
            </a:r>
            <a:r>
              <a:rPr sz="1700">
                <a:solidFill>
                  <a:srgbClr val="1F2937"/>
                </a:solidFill>
                <a:latin typeface="Calibri"/>
              </a:rPr>
              <a:t> pedidos históricos de septiembre de 2016 a agosto de 2018, en nueve archivos CSV.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Quién usa el dashboard:</a:t>
            </a:r>
            <a:r>
              <a:rPr sz="1700">
                <a:solidFill>
                  <a:srgbClr val="1F2937"/>
                </a:solidFill>
                <a:latin typeface="Calibri"/>
              </a:rPr>
              <a:t> una persona de gestión comercial u operativa.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Necesita ver:</a:t>
            </a:r>
            <a:r>
              <a:rPr sz="1700">
                <a:solidFill>
                  <a:srgbClr val="1F2937"/>
                </a:solidFill>
                <a:latin typeface="Calibri"/>
              </a:rPr>
              <a:t> cuánto se vende, cuánto gasta cada pedido, qué tan satisfechos quedan los clientes, si las entregas llegan a tiempo y qué categorías y regiones concentran las ventas.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80160"/>
            <a:ext cx="5212080" cy="1828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280160"/>
            <a:ext cx="64008" cy="182880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1" y="1353312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F6B1A"/>
                </a:solidFill>
                <a:latin typeface="Calibri"/>
              </a:rPr>
              <a:t>Pregunta de negocio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1" y="1737360"/>
            <a:ext cx="49377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¿Cómo se comportan las ventas, las reseñas y las entregas de los pedidos de Olist, y qué categorías y regiones concentran las ventas?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383280"/>
            <a:ext cx="5212080" cy="2651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3383280"/>
            <a:ext cx="64008" cy="265176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3456432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F6B1A"/>
                </a:solidFill>
                <a:latin typeface="Calibri"/>
              </a:rPr>
              <a:t>Alcance y límites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3840480"/>
            <a:ext cx="4937760" cy="21488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Datos históricos: no son ventas actuales.
Indicadores comerciales solo con pedidos `delivered`.
No se calcula utilidad: no hay costos.
Importes en la moneda original, sin conversión.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El problema técnico central: unir sin multiplicar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Visión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Un pedido tiene varios ítems, varios pagos y a veces varias reseñas.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265176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Calibri"/>
              </a:rPr>
              <a:t>❌ Unir directamente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188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ítem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Calibri"/>
              </a:rPr>
              <a:t>4 filas para 1 pedido: GMV = 300 en vez de 150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394960" cy="2651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F6B1A"/>
                </a:solidFill>
                <a:latin typeface="Calibri"/>
              </a:rPr>
              <a:t>✔ Agregar primero, unir después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92240" y="2331720"/>
          <a:ext cx="502920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188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ítems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GMV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pagado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92240" y="3108960"/>
            <a:ext cx="50292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Una fila por pedido en cada tabla antes del merge. Los importes se conservan.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1124712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Regla:</a:t>
            </a:r>
            <a:r>
              <a:rPr sz="1600">
                <a:solidFill>
                  <a:srgbClr val="1F2937"/>
                </a:solidFill>
                <a:latin typeface="Calibri"/>
              </a:rPr>
              <a:t> groupby a una fila por pedido → merge con validate → comprobar que no cambió el número de pedidos ni el GMV.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validate="one_to_one":</a:t>
            </a:r>
            <a:r>
              <a:rPr sz="1600">
                <a:solidFill>
                  <a:srgbClr val="1F2937"/>
                </a:solidFill>
                <a:latin typeface="Calibri"/>
              </a:rPr>
              <a:t> pandas falla si una de las dos tablas repite la clave de unión.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Arquitectura: un comando, tres etapas, ocho tablas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Visión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828800" cy="82296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 CSV
(data/raw)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6000" y="1645920"/>
            <a:ext cx="365760" cy="27432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011680" cy="82296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pipeline.py
config + logging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46320" y="1645920"/>
            <a:ext cx="365760" cy="27432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005840"/>
            <a:ext cx="3200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005840"/>
            <a:ext cx="64008" cy="91440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05156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</a:rPr>
              <a:t>1 · etl.py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417320"/>
            <a:ext cx="29260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pedidos + ítems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057400"/>
            <a:ext cx="3200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2057400"/>
            <a:ext cx="64008" cy="91440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</a:rPr>
              <a:t>2 · indicadores.py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468880"/>
            <a:ext cx="29260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reseñas, productos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3108960"/>
            <a:ext cx="320040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3108960"/>
            <a:ext cx="64008" cy="91440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154679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</a:rPr>
              <a:t>3 · contexto.py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520440"/>
            <a:ext cx="29260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clientes, pagos, vendedores, geografía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95360" y="1645920"/>
            <a:ext cx="365760" cy="27432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1371600"/>
            <a:ext cx="2651760" cy="82296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dashboard360.sqlite
8 tablas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37744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Calibri"/>
              </a:rPr>
              <a:t>▼ lectura solo lectura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743200"/>
            <a:ext cx="2651760" cy="7315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dashboard.py
(Streamlit)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4297680"/>
          <a:ext cx="112471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  <a:gridCol w="2834640"/>
                <a:gridCol w="28346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Etapa 1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Etapa 2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Etapa 3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pedidos_entregados (96.478)
resumen_mensual (23)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ventas_categorias (74)
kpis_generales (1)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clientes_geografia (99.441)
vendedores_dashboard (3.095)
geografia_postal (19.015)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pedidos_dashboard (96.478)
se crea en la etapa 2 y se amplía en la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Las etapas se pasan los datos por SQLite: cada una lee la tabla que dejó la anterior. Por eso el orden importa.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0 · Entorno: aislar 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0 · Entorno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766560" cy="4480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86EFAC"/>
                </a:solidFill>
                <a:latin typeface="Consolas"/>
              </a:rPr>
              <a:t># Terminal: Bash de MSYS2 UCRT64 (no PowerShell)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pwd                                  # dónde estoy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ls data/raw                          # ¿están los 9 CSV?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py -3.12 --version                   # Python 3.12.9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86EFAC"/>
                </a:solidFill>
                <a:latin typeface="Consolas"/>
              </a:rPr>
              <a:t># Entorno virtual (una sola vez)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py -3.12 -m venv .venv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86EFAC"/>
                </a:solidFill>
                <a:latin typeface="Consolas"/>
              </a:rPr>
              <a:t># Activar (en cada terminal nueva)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source .venv/Scripts/activate        # aparece (.venv)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python -m pip install pandas pytest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python -m pip freeze &gt; requirements.txt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python -m pip install -r requirements.txt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python -m pip check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mkdir -p data/processed docs reports src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280160"/>
            <a:ext cx="429768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venv:</a:t>
            </a:r>
            <a:r>
              <a:rPr sz="1500">
                <a:solidFill>
                  <a:srgbClr val="1F2937"/>
                </a:solidFill>
                <a:latin typeface="Calibri"/>
              </a:rPr>
              <a:t> dependencias del proyecto separadas del Python general.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python -m pip:</a:t>
            </a:r>
            <a:r>
              <a:rPr sz="1500">
                <a:solidFill>
                  <a:srgbClr val="1F2937"/>
                </a:solidFill>
                <a:latin typeface="Calibri"/>
              </a:rPr>
              <a:t> instala en el Python que tienes seleccionado.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freeze &gt; :</a:t>
            </a:r>
            <a:r>
              <a:rPr sz="1500">
                <a:solidFill>
                  <a:srgbClr val="1F2937"/>
                </a:solidFill>
                <a:latin typeface="Calibri"/>
              </a:rPr>
              <a:t> guarda las versiones y reemplaza el archivo.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Python 3.14 → 3.12:</a:t>
            </a:r>
            <a:r>
              <a:rPr sz="1500">
                <a:solidFill>
                  <a:srgbClr val="1F2937"/>
                </a:solidFill>
                <a:latin typeface="Calibri"/>
              </a:rPr>
              <a:t> el entorno inicial se movió a .venv-python314-respaldo.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Verificado:</a:t>
            </a:r>
            <a:r>
              <a:rPr sz="1500">
                <a:solidFill>
                  <a:srgbClr val="1F2937"/>
                </a:solidFill>
                <a:latin typeface="Calibri"/>
              </a:rPr>
              <a:t> Python 3.12.9, pandas 3.1.0, pytest 9.1.1; pip check sin problemas; los 9 CSV coinciden por SHA-256 con el zip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0 · .gitignore y primeros tropiezos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0 · Entorno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42062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cat &gt; .gitignore &lt;&lt;'EOF'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# Entornos virtuales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.venv/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.venv-python314-respaldo/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# Temporales de Python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__pycache__/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*.py[cod]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# Cache de pruebas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.pytest_cache/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# Secretos locales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.env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# Resultados generados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data/processed/*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reports/*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EOF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280160"/>
          <a:ext cx="5669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Síntoma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Causa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Solución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command not 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Comandos de PowerShell en Bash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Usar pwd, 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ModuleNotFoundError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pandas no instalado en ese intérprete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Instalar en el entorno del proyecto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[200~ls ...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Caracteres extra al pegar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Escribir ls -la .gitignore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Operation cancelled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Instalación interrumpida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Usar ./.venv/Scripts/python.exe -m pip install -r requirements.txt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23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.gitignore le dice a Git qué omitir; no borra archivos. cat &gt; archivo &lt;&lt;'EOF' escribe el texto hasta la palabra EOF.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1 · Explorar los datos, capa por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1 · Exploración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" cy="64008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80160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Calibri"/>
              </a:rPr>
              <a:t>Inventario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80160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filas, columnas, celdas nulas, duplicados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39"/>
            <a:ext cx="548640" cy="64008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48839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Calibri"/>
              </a:rPr>
              <a:t>Calidad por columna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48839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tipo, nulos y % por columna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548640" cy="64008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17520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Calibri"/>
              </a:rPr>
              <a:t>Claves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017520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order_id; order_id + order_item_id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86200"/>
            <a:ext cx="548640" cy="64008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86200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Calibri"/>
              </a:rPr>
              <a:t>Relación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886200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¿ítems sin pedido? ¿pedidos sin ítems?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79"/>
            <a:ext cx="548640" cy="640080"/>
          </a:xfrm>
          <a:prstGeom prst="round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54879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Calibri"/>
              </a:rPr>
              <a:t>Estados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754879"/>
            <a:ext cx="292608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pedidos por order_status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0" y="1280160"/>
          <a:ext cx="4389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731520"/>
                <a:gridCol w="1280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Reporte (reports/)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Filas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Cols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inventario_inicial.csv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calidad_por_columna.csv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relacion_pedidos_items.csv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resumen_pedidos_estado.csv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7315200" y="3383280"/>
            <a:ext cx="4389120" cy="26517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3383280"/>
            <a:ext cx="64008" cy="265176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3456432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6B1A"/>
                </a:solidFill>
                <a:latin typeface="Calibri"/>
              </a:rPr>
              <a:t>Hallazgos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840480"/>
            <a:ext cx="4114800" cy="21488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orders: 99.441 filas, 4.908 celdas nulas.
775 pedidos sin ítems; 0 ítems sin pedido.
97,02 % de los pedidos está entregado (96.478).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1 · Calidad por columna y relación entre tablas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1 · Exploración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760720" cy="26517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5577840" cy="2578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src/explorar_datos.py, líneas 59–68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for columna in datos.columns: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detalle_columnas.append({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    "tabla": tabla,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    "columna": columna,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    "tipo_detectado": str(datos[columna].dtype),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    "celdas_nulas": int(datos[columna].isna().sum()),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    "porcentaje_nulos": round(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        datos[columna].isna().mean() * 100, 2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    ),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})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69080"/>
            <a:ext cx="5760720" cy="2194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5577840" cy="21214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src/explorar_datos.py, líneas 88–97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pedidos = tablas["orders"]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items = tablas["order_items"]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pedidos_sin_items = int(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(~pedidos["order_id"].isin(items["order_id"])).sum()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items_sin_pedido = int(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(~items["order_id"].isin(pedidos["order_id"])).sum()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530352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isna():</a:t>
            </a:r>
            <a:r>
              <a:rPr sz="1600">
                <a:solidFill>
                  <a:srgbClr val="1F2937"/>
                </a:solidFill>
                <a:latin typeface="Calibri"/>
              </a:rPr>
              <a:t> da True/False. Su suma cuenta nulos; su media da la proporción.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dtype:</a:t>
            </a:r>
            <a:r>
              <a:rPr sz="1600">
                <a:solidFill>
                  <a:srgbClr val="1F2937"/>
                </a:solidFill>
                <a:latin typeface="Calibri"/>
              </a:rPr>
              <a:t> tipo que detectó pandas al leer; las fechas aún son texto.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isin + ~ + sum:</a:t>
            </a:r>
            <a:r>
              <a:rPr sz="1600">
                <a:solidFill>
                  <a:srgbClr val="1F2937"/>
                </a:solidFill>
                <a:latin typeface="Calibri"/>
              </a:rPr>
              <a:t> cuenta pedidos que NO existen en la otra tabla.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Dos direcciones:</a:t>
            </a:r>
            <a:r>
              <a:rPr sz="1600">
                <a:solidFill>
                  <a:srgbClr val="1F2937"/>
                </a:solidFill>
                <a:latin typeface="Calibri"/>
              </a:rPr>
              <a:t> pedidos sin ítems (775) e ítems sin pedido (0) responden preguntas distintas.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Sin merge:</a:t>
            </a:r>
            <a:r>
              <a:rPr sz="1600">
                <a:solidFill>
                  <a:srgbClr val="1F2937"/>
                </a:solidFill>
                <a:latin typeface="Calibri"/>
              </a:rPr>
              <a:t> aquí solo se miden relaciones; no se calculan ventas.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1 · Errores reales y lo que enseñan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1 · Exploración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566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Causa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Arreglo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NameError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Lista creada como detalles_columnas y usada como detalle_columnas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Un nombre, un sitio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7 filas en vez de 15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El ciclo de columnas quedó fuera del ciclo de tablas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Indentarlo dentro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SyntaxError: '(' was never closed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Faltaba el paréntesis de raise ValueError(...)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Cerrarlo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valueError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Python distingue mayúsculas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ValueError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Letras en vez de columnas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"orders": "order_id" es texto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"orders": ["order_id"] es lista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TypeError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tabla[tabla] = datos modifica un texto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tablas[tabla] = datos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NameError: tablas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Faltaba tablas = {} antes del ciclo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Crear el diccionario antes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64008" cy="82296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5595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6B1A"/>
                </a:solidFill>
                <a:latin typeface="Calibri"/>
              </a:rPr>
              <a:t>Lección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94360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Que el programa corra sin errores no prueba que el resultado sea correcto: comprueba tablas incluidas y conteos.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2 · Primer ETL: reglas y funciones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2 · ETL y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246888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F6B1A"/>
                </a:solidFill>
                <a:latin typeface="Calibri"/>
              </a:rPr>
              <a:t>Reglas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37360"/>
            <a:ext cx="512064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Población: pedidos con estado delivered.
GMV = suma de precios, sin flete.
Mes = fecha de compra (no de entrega).
Ticket = GMV / pedidos de la misma población.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6480" y="1280160"/>
          <a:ext cx="5577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4747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validar_clave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Detiene si la clave tiene nulos o duplicados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transformar_pedidos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Valida, convierte tipos, filtra entregados, agrega ítems, une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resumir_por_mes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Pedidos, ítems, GMV, flete y ticket por 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ejecutar_etl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Lee CSV, llama a las anteriores, guarda en SQLite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251960"/>
          <a:ext cx="1124711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749039"/>
                <a:gridCol w="3749039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Entrada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Salida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Comprobado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orders + order_items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pedidos_entregados: 96.478 filas, 6 columnas
resumen_mensual: 23 filas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Integridad ok · 110.197 ítems · GMV 13.221.498,11 · flete 2.198.275,64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Cada prueba se hizo en solo lectura sobre la base: PRAGMA integrity_check, COUNT, SUM.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2 · Agregar antes de unir (el corazón del ETL)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2 · ETL y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583680" cy="50749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6400800" cy="5001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src/etl.py, líneas 58–66</a:t>
            </a:r>
          </a:p>
          <a:p>
            <a:pPr algn="l"/>
            <a:r>
              <a:rPr sz="1100">
                <a:solidFill>
                  <a:srgbClr val="86EFAC"/>
                </a:solidFill>
                <a:latin typeface="Consolas"/>
              </a:rPr>
              <a:t>    # Sumamos los ítems antes de unir: una fila por pedido.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importes = 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items.groupby("order_id", as_index=False)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.agg(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cantidad_items=("order_item_id", "count"),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gmv=("price", "sum"),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flete=("freight_value", "sum"),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)</a:t>
            </a:r>
          </a:p>
          <a:p>
            <a:r>
              <a:rPr sz="600"/>
              <a:t> </a:t>
            </a:r>
          </a:p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src/etl.py, líneas 68–80</a:t>
            </a:r>
          </a:p>
          <a:p>
            <a:pPr algn="l"/>
            <a:r>
              <a:rPr sz="1100">
                <a:solidFill>
                  <a:srgbClr val="86EFAC"/>
                </a:solidFill>
                <a:latin typeface="Consolas"/>
              </a:rPr>
              <a:t>    # La unión debe conservar una sola fila por pedido.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resultado = entregados.merge(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importes,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on="order_id",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how="left",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validate="one_to_one",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if resultado["cantidad_items"].isna().any():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raise ValueError("Hay pedidos entregados sin ítems.")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resultado["cantidad_items"] = resultado["cantidad_items"].astype(int)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resultado[["gmv", "flete"]] = resultado[["gmv", "flete"]].round(2)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188720"/>
            <a:ext cx="452628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groupby + agg:</a:t>
            </a:r>
            <a:r>
              <a:rPr sz="1500">
                <a:solidFill>
                  <a:srgbClr val="1F2937"/>
                </a:solidFill>
                <a:latin typeface="Calibri"/>
              </a:rPr>
              <a:t> una fila por pedido con cantidad de ítems, GMV y flete.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merge how="left":</a:t>
            </a:r>
            <a:r>
              <a:rPr sz="1500">
                <a:solidFill>
                  <a:srgbClr val="1F2937"/>
                </a:solidFill>
                <a:latin typeface="Calibri"/>
              </a:rPr>
              <a:t> conserva todos los pedidos entregados.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validate="one_to_one":</a:t>
            </a:r>
            <a:r>
              <a:rPr sz="1500">
                <a:solidFill>
                  <a:srgbClr val="1F2937"/>
                </a:solidFill>
                <a:latin typeface="Calibri"/>
              </a:rPr>
              <a:t> falla si algún order_id se repite.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isna().any():</a:t>
            </a:r>
            <a:r>
              <a:rPr sz="1500">
                <a:solidFill>
                  <a:srgbClr val="1F2937"/>
                </a:solidFill>
                <a:latin typeface="Calibri"/>
              </a:rPr>
              <a:t> pedido entregado sin ítems → se rechaza, no se oculta.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round(2):</a:t>
            </a:r>
            <a:r>
              <a:rPr sz="1500">
                <a:solidFill>
                  <a:srgbClr val="1F2937"/>
                </a:solidFill>
                <a:latin typeface="Calibri"/>
              </a:rPr>
              <a:t> los importes quedan con dos decimales.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2 · Repetir no duplica: reemplazar, no acumular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2 · ETL y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035040" cy="23774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5852159" cy="23042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>
                <a:solidFill>
                  <a:srgbClr val="FF6B1A"/>
                </a:solidFill>
                <a:latin typeface="Consolas"/>
              </a:rPr>
              <a:t># src/etl.py, líneas 139–147</a:t>
            </a:r>
          </a:p>
          <a:p>
            <a:pPr algn="l"/>
            <a:r>
              <a:rPr sz="1300">
                <a:solidFill>
                  <a:srgbClr val="86EFAC"/>
                </a:solidFill>
                <a:latin typeface="Consolas"/>
              </a:rPr>
              <a:t>    # Cada ejecución reemplaza las tablas de resultados.</a:t>
            </a:r>
          </a:p>
          <a:p>
            <a:pPr algn="l"/>
            <a:r>
              <a:rPr sz="1300">
                <a:solidFill>
                  <a:srgbClr val="86EFAC"/>
                </a:solidFill>
                <a:latin typeface="Consolas"/>
              </a:rPr>
              <a:t>    # No agregamos nuevamente los mismos pedidos.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with sqlite3.connect(ruta_base) as conexion: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pedidos_preparados.to_sql(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    "pedidos_entregados",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    conexion,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    if_exists="replace",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    index=False,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280160"/>
            <a:ext cx="50292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replace:</a:t>
            </a:r>
            <a:r>
              <a:rPr sz="1700">
                <a:solidFill>
                  <a:srgbClr val="1F2937"/>
                </a:solidFill>
                <a:latin typeface="Calibri"/>
              </a:rPr>
              <a:t> reconstruye la tabla en cada ejecución.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append:</a:t>
            </a:r>
            <a:r>
              <a:rPr sz="1700">
                <a:solidFill>
                  <a:srgbClr val="1F2937"/>
                </a:solidFill>
                <a:latin typeface="Calibri"/>
              </a:rPr>
              <a:t> sumaría otra vez los mismos pedidos (no se usa).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93192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Comprobación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Ejecución 1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Ejecución 2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Pedidos entregados / distintos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96.478 / 96.478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96.478 / 96.478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Filas mensuales · GMV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23 · 13.221.498,11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23 · 13.221.498,11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Hash SHA-256 de los datos (ordenados por clave)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Coinciden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Se comparan los datos, no los bytes del archivo .sqlite (cambian por su organización interna). Limitación: no es una escritura atómica.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3 · Los cinco indicadores y sus definiciones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3 ·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766560"/>
                <a:gridCol w="246888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Definición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GMV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Suma de precios de productos de pedidos entregados. Sin flete. No es utilidad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13.221.498,11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Ticket promedio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GMV dividido por los pedidos de la misma población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137,04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Satisfacción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Media de la media de reseñas de cada pedido. Cada pedido pesa igual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4,16 de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Entregas a tiempo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Fecha real ≤ estimada, en días calendario, sobre pedidos evaluables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93,23 %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Categorías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Suma de precios por categoría (traducida; si falta, original; si no hay, sin_categoria)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74 categorías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Top 5 por GMV: health_beauty, watches_gifts, bed_bath_table, sports_leisure, computers_accessories.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3 · Satisfacción: primero por 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3 ·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035040" cy="24688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5852159" cy="23957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>
                <a:solidFill>
                  <a:srgbClr val="FF6B1A"/>
                </a:solidFill>
                <a:latin typeface="Consolas"/>
              </a:rPr>
              <a:t># src/indicadores.py, líneas 68–76</a:t>
            </a:r>
          </a:p>
          <a:p>
            <a:pPr algn="l"/>
            <a:r>
              <a:rPr sz="1300">
                <a:solidFill>
                  <a:srgbClr val="86EFAC"/>
                </a:solidFill>
                <a:latin typeface="Consolas"/>
              </a:rPr>
              <a:t>    # Puede haber varias reseñas por pedido.</a:t>
            </a:r>
          </a:p>
          <a:p>
            <a:pPr algn="l"/>
            <a:r>
              <a:rPr sz="1300">
                <a:solidFill>
                  <a:srgbClr val="86EFAC"/>
                </a:solidFill>
                <a:latin typeface="Consolas"/>
              </a:rPr>
              <a:t>    # Primero calculamos una puntuación media por pedido.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puntuaciones = (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resenas.groupby("order_id", as_index=False)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.agg(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    satisfaccion=("review_score", "mean"),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    cantidad_resenas=("review_score", "count"),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6035040" cy="2286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59352"/>
            <a:ext cx="5852159" cy="22128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>
                <a:solidFill>
                  <a:srgbClr val="FF6B1A"/>
                </a:solidFill>
                <a:latin typeface="Consolas"/>
              </a:rPr>
              <a:t># src/indicadores.py, líneas 78–84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    # Cada unión mantiene exactamente una fila por pedido.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base = base.merge(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fechas,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on="order_id",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how="left",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validate="one_to_one",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280160"/>
            <a:ext cx="50292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Por qué:</a:t>
            </a:r>
            <a:r>
              <a:rPr sz="1500">
                <a:solidFill>
                  <a:srgbClr val="1F2937"/>
                </a:solidFill>
                <a:latin typeface="Calibri"/>
              </a:rPr>
              <a:t> 551 pedidos tienen más de una reseña. Promediar reseñas directas daría más peso a esos pedidos.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Cómo:</a:t>
            </a:r>
            <a:r>
              <a:rPr sz="1500">
                <a:solidFill>
                  <a:srgbClr val="1F2937"/>
                </a:solidFill>
                <a:latin typeface="Calibri"/>
              </a:rPr>
              <a:t> groupby order_id → media por pedido → media entre pedidos.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Sin reseña:</a:t>
            </a:r>
            <a:r>
              <a:rPr sz="1500">
                <a:solidFill>
                  <a:srgbClr val="1F2937"/>
                </a:solidFill>
                <a:latin typeface="Calibri"/>
              </a:rPr>
              <a:t> se conservan con satisfacción nula (646 entregados). No se inventa una nota.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Validación:</a:t>
            </a:r>
            <a:r>
              <a:rPr sz="1500">
                <a:solidFill>
                  <a:srgbClr val="1F2937"/>
                </a:solidFill>
                <a:latin typeface="Calibri"/>
              </a:rPr>
              <a:t> la puntuación debe ser 1, 2, 3, 4 o 5; si no, ValueError.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Resultado:</a:t>
            </a:r>
            <a:r>
              <a:rPr sz="1500">
                <a:solidFill>
                  <a:srgbClr val="1F2937"/>
                </a:solidFill>
                <a:latin typeface="Calibri"/>
              </a:rPr>
              <a:t> 4,16 sobre 95.832 pedidos.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3 · Entrega a tiempo: días calendario y "no evaluable"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3 ·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583680" cy="3017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6400800" cy="2944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src/indicadores.py, líneas 105–116</a:t>
            </a:r>
          </a:p>
          <a:p>
            <a:pPr algn="l"/>
            <a:r>
              <a:rPr sz="1100">
                <a:solidFill>
                  <a:srgbClr val="86EFAC"/>
                </a:solidFill>
                <a:latin typeface="Consolas"/>
              </a:rPr>
              <a:t>    # Comparamos días calendario: la fecha estimada viene a medianoche.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real = base["order_delivered_customer_date"].dt.normalize()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estimada = base["order_estimated_delivery_date"].dt.normalize()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compra = base["order_purchase_timestamp"].dt.normalize()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base["entrega_evaluable"] = 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real.notna()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&amp; estimada.notna()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&amp; compra.notna()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&amp; real.ge(compra)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&amp; estimada.ge(compra)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43400"/>
            <a:ext cx="6583680" cy="1965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6400800" cy="18928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src/indicadores.py, líneas 118–126</a:t>
            </a:r>
          </a:p>
          <a:p>
            <a:pPr algn="l"/>
            <a:r>
              <a:rPr sz="1100">
                <a:solidFill>
                  <a:srgbClr val="86EFAC"/>
                </a:solidFill>
                <a:latin typeface="Consolas"/>
              </a:rPr>
              <a:t>    # NaN significa no evaluable; no se registra como entrega atrasada.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base["entrega_a_tiempo"] = float("nan")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evaluables = base["entrega_evaluable"]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base.loc[evaluables, "entrega_a_tiempo"] = 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real.loc[evaluables]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.le(estimada.loc[evaluables])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.astype(float)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188720"/>
            <a:ext cx="46634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normalize():</a:t>
            </a:r>
            <a:r>
              <a:rPr sz="1500">
                <a:solidFill>
                  <a:srgbClr val="1F2937"/>
                </a:solidFill>
                <a:latin typeface="Calibri"/>
              </a:rPr>
              <a:t> deja solo la fecha. La estimada viene a medianoche; la real trae hora.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Evaluable:</a:t>
            </a:r>
            <a:r>
              <a:rPr sz="1500">
                <a:solidFill>
                  <a:srgbClr val="1F2937"/>
                </a:solidFill>
                <a:latin typeface="Calibri"/>
              </a:rPr>
              <a:t> tiene las tres fechas y entrega y estimación no son anteriores a la compra.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NaN:</a:t>
            </a:r>
            <a:r>
              <a:rPr sz="1500">
                <a:solidFill>
                  <a:srgbClr val="1F2937"/>
                </a:solidFill>
                <a:latin typeface="Calibri"/>
              </a:rPr>
              <a:t> los 8 no evaluables no cuentan como atrasados.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Resultado:</a:t>
            </a:r>
            <a:r>
              <a:rPr sz="1500">
                <a:solidFill>
                  <a:srgbClr val="1F2937"/>
                </a:solidFill>
                <a:latin typeface="Calibri"/>
              </a:rPr>
              <a:t> 89.936 a tiempo de 96.470 evaluables = 93,23 %.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3 · Categorías y reconciliación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3 ·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852160" cy="2011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5669280" cy="19385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src/indicadores.py, líneas 128–134</a:t>
            </a:r>
          </a:p>
          <a:p>
            <a:pPr algn="l"/>
            <a:r>
              <a:rPr sz="1100">
                <a:solidFill>
                  <a:srgbClr val="86EFAC"/>
                </a:solidFill>
                <a:latin typeface="Consolas"/>
              </a:rPr>
              <a:t>    # Conservamos categorías originales sin traducción.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productos = productos.merge(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traducciones,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on="product_category_name",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how="left",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validate="many_to_one",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37560"/>
            <a:ext cx="5852160" cy="2011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64991"/>
            <a:ext cx="5669280" cy="19385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src/indicadores.py, líneas 174–179</a:t>
            </a:r>
          </a:p>
          <a:p>
            <a:pPr algn="l"/>
            <a:r>
              <a:rPr sz="1100">
                <a:solidFill>
                  <a:srgbClr val="86EFAC"/>
                </a:solidFill>
                <a:latin typeface="Consolas"/>
              </a:rPr>
              <a:t>    # Las ventas por categoría deben reconciliar con las ventas por pedido.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gmv_total = round(float(base["gmv"].sum()), 2)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gmv_categorias = round(float(categorias["gmv"].sum()), 2)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if abs(gmv_total - gmv_categorias) &gt; 0.005: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raise ValueError("El GMV por categoría no coincide con el total.")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52120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many_to_one:</a:t>
            </a:r>
            <a:r>
              <a:rPr sz="1500">
                <a:solidFill>
                  <a:srgbClr val="1F2937"/>
                </a:solidFill>
                <a:latin typeface="Calibri"/>
              </a:rPr>
              <a:t> muchos productos comparten traducción; cada categoría aparece una vez en la tabla de traducciones.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fillna en cadena:</a:t>
            </a:r>
            <a:r>
              <a:rPr sz="1500">
                <a:solidFill>
                  <a:srgbClr val="1F2937"/>
                </a:solidFill>
                <a:latin typeface="Calibri"/>
              </a:rPr>
              <a:t> traducción → nombre original → sin_categoria.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Reconciliar:</a:t>
            </a:r>
            <a:r>
              <a:rPr sz="1500">
                <a:solidFill>
                  <a:srgbClr val="1F2937"/>
                </a:solidFill>
                <a:latin typeface="Calibri"/>
              </a:rPr>
              <a:t> la suma del GMV por categoría debe igualar el total (tolerancia 0,005).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No aditivo:</a:t>
            </a:r>
            <a:r>
              <a:rPr sz="1500">
                <a:solidFill>
                  <a:srgbClr val="1F2937"/>
                </a:solidFill>
                <a:latin typeface="Calibri"/>
              </a:rPr>
              <a:t> los pedidos por categoría no se suman: un pedido puede tener varias categorías. GMV e ítems sí.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sin_categoria:</a:t>
            </a:r>
            <a:r>
              <a:rPr sz="1500">
                <a:solidFill>
                  <a:srgbClr val="1F2937"/>
                </a:solidFill>
                <a:latin typeface="Calibri"/>
              </a:rPr>
              <a:t> 170.726,63 de GMV y 1.537 ítems.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5852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Las 74 categorías suman 13.221.498,11 de GMV y 110.197 ítems, igual que la base comercial.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4 · Integrar las nueve tablas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4 · Nueve tablas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6766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Aporte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Estado, fechas, relación con cliente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order_items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Ítems, GMV, flete, producto y vendedor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order_reviews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Satisfacción por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products + translation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Categoría traducida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Cliente, ciudad, estado, prefijo postal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order_payments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Total pagado y conciliación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sellers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Vendedor, ubicación, ventas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geolocation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Coordenadas aproximadas por prefijo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1280160"/>
            <a:ext cx="4206240" cy="2926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280160"/>
            <a:ext cx="64008" cy="292608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1" y="1353312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F6B1A"/>
                </a:solidFill>
                <a:latin typeface="Calibri"/>
              </a:rPr>
              <a:t>Control de integridad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1" y="1737360"/>
            <a:ext cx="3931920" cy="2423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Antes de unir se guardan el número de pedidos (96.478) y el GMV (13.221.498,11). Después de unir deben seguir iguales, o el proceso falla.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4389120"/>
            <a:ext cx="4206240" cy="1737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4389120"/>
            <a:ext cx="64008" cy="173736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4462272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F6B1A"/>
                </a:solidFill>
                <a:latin typeface="Calibri"/>
              </a:rPr>
              <a:t>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1" y="4846320"/>
            <a:ext cx="3931920" cy="12344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Tablas finales: 8.
Integridad de SQLite: 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4 · Pagos: agregar primero; nulo no es cero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4 · Nueve tablas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217920" cy="2743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6035040" cy="2670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>
                <a:solidFill>
                  <a:srgbClr val="FF6B1A"/>
                </a:solidFill>
                <a:latin typeface="Consolas"/>
              </a:rPr>
              <a:t># src/contexto.py, líneas 131–132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    # Primero agregamos pagos: nunca unimos sus filas directamente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    # con ítems, porque eso podría multiplicar importes.</a:t>
            </a:r>
          </a:p>
          <a:p>
            <a:r>
              <a:rPr sz="600"/>
              <a:t> </a:t>
            </a:r>
          </a:p>
          <a:p>
            <a:pPr algn="l"/>
            <a:r>
              <a:rPr sz="1100">
                <a:solidFill>
                  <a:srgbClr val="FF6B1A"/>
                </a:solidFill>
                <a:latin typeface="Consolas"/>
              </a:rPr>
              <a:t># src/contexto.py, líneas 144–150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pagos_por_pedido = (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pagos.groupby("order_id", as_index=False)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.agg(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    total_pagado=("payment_value", "sum"),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    registros_pago=("payment_sequential", "count"),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6217920" cy="21031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42232"/>
            <a:ext cx="6035040" cy="202996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>
                <a:solidFill>
                  <a:srgbClr val="FF6B1A"/>
                </a:solidFill>
                <a:latin typeface="Consolas"/>
              </a:rPr>
              <a:t># src/contexto.py, líneas 176–179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    # Un pago ausente se conserva como nulo, no como cero.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base["diferencia_pago"] = (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base["total_pagado"] - base["gmv"] - base["flete"]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).round(2)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188720"/>
            <a:ext cx="48463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Nunca pagos × ítems:</a:t>
            </a:r>
            <a:r>
              <a:rPr sz="1500">
                <a:solidFill>
                  <a:srgbClr val="1F2937"/>
                </a:solidFill>
                <a:latin typeface="Calibri"/>
              </a:rPr>
              <a:t> un pedido con 3 pagos y 2 ítems daría 6 filas y multiplicaría los importes.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diferencia_pago:</a:t>
            </a:r>
            <a:r>
              <a:rPr sz="1500">
                <a:solidFill>
                  <a:srgbClr val="1F2937"/>
                </a:solidFill>
                <a:latin typeface="Calibri"/>
              </a:rPr>
              <a:t> total_pagado − GMV − flete, redondeada a 2 decimales.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Pago ausente:</a:t>
            </a:r>
            <a:r>
              <a:rPr sz="1500">
                <a:solidFill>
                  <a:srgbClr val="1F2937"/>
                </a:solidFill>
                <a:latin typeface="Calibri"/>
              </a:rPr>
              <a:t> nulo, no cero. Cero diría que se pagó cero.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Resultado:</a:t>
            </a:r>
            <a:r>
              <a:rPr sz="1500">
                <a:solidFill>
                  <a:srgbClr val="1F2937"/>
                </a:solidFill>
                <a:latin typeface="Calibri"/>
              </a:rPr>
              <a:t> 1 pedido sin pago; 299 con diferencia superior a un centavo. Requieren investigación; no prueban fraude.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4 · Geografía: un punto aproximado por prefijo postal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4 · Nueve tablas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217920" cy="20116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6035040" cy="19385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>
                <a:solidFill>
                  <a:srgbClr val="FF6B1A"/>
                </a:solidFill>
                <a:latin typeface="Consolas"/>
              </a:rPr>
              <a:t># src/contexto.py, líneas 69–80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    # Los prefijos postales se tratan como texto de cinco posiciones.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geografia["prefijo_postal"] = (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geografia["geolocation_zip_code_prefix"].str.zfill(5)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clientes["customer_zip_code_prefix"] = (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clientes["customer_zip_code_prefix"].str.zfill(5)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vendedores["seller_zip_code_prefix"] = (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vendedores["seller_zip_code_prefix"].str.zfill(5)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37560"/>
            <a:ext cx="6217920" cy="29260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64991"/>
            <a:ext cx="6035040" cy="2852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src/contexto.py, líneas 100–113</a:t>
            </a:r>
          </a:p>
          <a:p>
            <a:pPr algn="l"/>
            <a:r>
              <a:rPr sz="1100">
                <a:solidFill>
                  <a:srgbClr val="86EFAC"/>
                </a:solidFill>
                <a:latin typeface="Consolas"/>
              </a:rPr>
              <a:t>    # Varias coordenadas pueden corresponder al mismo prefijo.</a:t>
            </a:r>
          </a:p>
          <a:p>
            <a:pPr algn="l"/>
            <a:r>
              <a:rPr sz="1100">
                <a:solidFill>
                  <a:srgbClr val="86EFAC"/>
                </a:solidFill>
                <a:latin typeface="Consolas"/>
              </a:rPr>
              <a:t>    # Obtenemos un punto aproximado por prefijo antes de unir.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puntos = 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geografia.loc[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coordenadas_validas,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["prefijo_postal", "geolocation_lat", "geolocation_lng"],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]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.drop_duplicates()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.groupby("prefijo_postal", as_index=False)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.agg(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latitud=("geolocation_lat", "mean"),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    longitud=("geolocation_lng", "mean"),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188720"/>
            <a:ext cx="48463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Texto de 5 posiciones:</a:t>
            </a:r>
            <a:r>
              <a:rPr sz="1500">
                <a:solidFill>
                  <a:srgbClr val="1F2937"/>
                </a:solidFill>
                <a:latin typeface="Calibri"/>
              </a:rPr>
              <a:t> zfill(5) conserva el cero inicial (01037).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Coordenadas válidas:</a:t>
            </a:r>
            <a:r>
              <a:rPr sz="1500">
                <a:solidFill>
                  <a:srgbClr val="1F2937"/>
                </a:solidFill>
                <a:latin typeface="Calibri"/>
              </a:rPr>
              <a:t> latitud entre −90 y 90; longitud entre −180 y 180.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drop_duplicates + media:</a:t>
            </a:r>
            <a:r>
              <a:rPr sz="1500">
                <a:solidFill>
                  <a:srgbClr val="1F2937"/>
                </a:solidFill>
                <a:latin typeface="Calibri"/>
              </a:rPr>
              <a:t> 261.831 filas repetidas; 19.015 prefijos con un punto cada uno.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Aproximado:</a:t>
            </a:r>
            <a:r>
              <a:rPr sz="1500">
                <a:solidFill>
                  <a:srgbClr val="1F2937"/>
                </a:solidFill>
                <a:latin typeface="Calibri"/>
              </a:rPr>
              <a:t> no es un domicilio ni garantiza estar dentro de Brasil.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FF6B1A"/>
                </a:solidFill>
                <a:latin typeface="Calibri"/>
              </a:rPr>
              <a:t>▪ Sin coordenadas:</a:t>
            </a:r>
            <a:r>
              <a:rPr sz="1500">
                <a:solidFill>
                  <a:srgbClr val="1F2937"/>
                </a:solidFill>
                <a:latin typeface="Calibri"/>
              </a:rPr>
              <a:t> 264 pedidos entregados; no se eliminan.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4 · Resultados comprobados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4 · Nueve tablas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Tabla SQLite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Filas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pedidos_entregados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96.478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resumen_mensual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pedidos_dashboard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96.478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ventas_categorias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kpis_generales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clientes_geografia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99.441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vendedores_dashboard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3.095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geografia_postal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19.015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17920" y="1280160"/>
            <a:ext cx="5486400" cy="2743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59" y="1307592"/>
            <a:ext cx="5303520" cy="2670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>
                <a:solidFill>
                  <a:srgbClr val="FF6B1A"/>
                </a:solidFill>
                <a:latin typeface="Consolas"/>
              </a:rPr>
              <a:t># src/contexto.py, líneas 227–234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    # Las uniones deben conservar los pedidos y su GMV.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validar_clave(base, ["order_id"], "pedidos_dashboard")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if len(base) != cantidad_original: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raise ValueError("Cambió la cantidad de pedidos al integrar.")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if abs(float(base["gmv"].sum()) - gmv_original) &gt; 0.005: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raise ValueError("Cambió el GMV al integrar.")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160520"/>
            <a:ext cx="5486400" cy="2011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4160520"/>
            <a:ext cx="64008" cy="201168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4233672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6B1A"/>
                </a:solidFill>
                <a:latin typeface="Calibri"/>
              </a:rPr>
              <a:t>Calidad de los entregados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617720"/>
            <a:ext cx="521208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1 sin pago · 264 sin coordenadas · 299 con diferencia de pago &gt; 1 centavo · 646 sin reseña · 8 entregas no evaluables. Se informan, no se ocultan.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5 · Configuración, logging y errores controlados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5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291840" cy="10972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"logging": {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"level": "INFO",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"file": "reports/pipeline.log"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}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config/settings.json (carpeta config/, no un archivo llamado config)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188720"/>
            <a:ext cx="7772400" cy="36576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216152"/>
            <a:ext cx="7589520" cy="35844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>
                <a:solidFill>
                  <a:srgbClr val="FF6B1A"/>
                </a:solidFill>
                <a:latin typeface="Consolas"/>
              </a:rPr>
              <a:t># pipeline.py, líneas 66–82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logger = logging.getLogger("dashboard360")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logger.info("Inicio del pipeline.")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try: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logger.info("Procesando pedidos e ítems.")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ejecutar_etl(RAIZ)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logger.info("Calculando los cinco indicadores.")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generar_indicadores(RAIZ)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logger.info("Integrando clientes, pagos y geolocalización.")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incorporar_contexto(RAIZ)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logger.info("Pipeline completado correctamente.")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except Exception: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logger.exception("El pipeline falló.")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raise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338328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Nivel y archivo:</a:t>
            </a:r>
            <a:r>
              <a:rPr sz="1400">
                <a:solidFill>
                  <a:srgbClr val="1F2937"/>
                </a:solidFill>
                <a:latin typeface="Calibri"/>
              </a:rPr>
              <a:t> se validan al arrancar.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Dos destinos:</a:t>
            </a:r>
            <a:r>
              <a:rPr sz="1400">
                <a:solidFill>
                  <a:srgbClr val="1F2937"/>
                </a:solidFill>
                <a:latin typeface="Calibri"/>
              </a:rPr>
              <a:t> terminal y reports/pipeline.log.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Si falla:</a:t>
            </a:r>
            <a:r>
              <a:rPr sz="1400">
                <a:solidFill>
                  <a:srgbClr val="1F2937"/>
                </a:solidFill>
                <a:latin typeface="Calibri"/>
              </a:rPr>
              <a:t> logger.exception guarda el traceback y raise termina con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983480"/>
            <a:ext cx="77724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Registro real (27/10/2026): Inicio 10:20:02 → indicadores 10:20:07 → contexto 10:20:09 → "Pipeline completado correctamente" 10:20:12. ≈ 10 segundos.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6 · Pruebas: 3 por cada función de transformación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6 ·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217920" cy="2743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6035040" cy="2670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>
                <a:solidFill>
                  <a:srgbClr val="FF6B1A"/>
                </a:solidFill>
                <a:latin typeface="Consolas"/>
              </a:rPr>
              <a:t># tests/test_etl.py, líneas 42–53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def test_validar_clave_rechaza_nulos():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datos = pd.DataFrame({"id": ["a", None]})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with pytest.raises(ValueError, match="nulas"):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validar_clave(datos, ["id"], "prueba")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def test_validar_clave_rechaza_duplicados():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datos = pd.DataFrame({"id": ["a", "a"]})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with pytest.raises(ValueError, match="duplicadas"):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validar_clave(datos, ["id"], "prueba")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69080"/>
            <a:ext cx="6217920" cy="2194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6035040" cy="21214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>
                <a:solidFill>
                  <a:srgbClr val="FF6B1A"/>
                </a:solidFill>
                <a:latin typeface="Consolas"/>
              </a:rPr>
              <a:t># tests/test_etl.py, líneas 67–72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def test_transformar_pedidos_rechaza_item_sin_pedido():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items = items_ejemplo()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items.loc[0, "order_id"] = "pedido-inexistente"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with pytest.raises(ValueError, match="inexistentes"):</a:t>
            </a:r>
          </a:p>
          <a:p>
            <a:pPr algn="l"/>
            <a:r>
              <a:rPr sz="1300">
                <a:solidFill>
                  <a:srgbClr val="E5E7EB"/>
                </a:solidFill>
                <a:latin typeface="Consolas"/>
              </a:rPr>
              <a:t>        transformar_pedidos(pedidos_ejemplo(), items)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0" y="118872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Pruebas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73152" marR="73152" marT="27432" marB="27432" anchor="ctr">
                    <a:solidFill>
                      <a:srgbClr val="FF6B1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validar_clave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transformar_pedidos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resumir_por_mes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49440" y="3200400"/>
            <a:ext cx="484632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En memoria:</a:t>
            </a:r>
            <a:r>
              <a:rPr sz="1400">
                <a:solidFill>
                  <a:srgbClr val="1F2937"/>
                </a:solidFill>
                <a:latin typeface="Calibri"/>
              </a:rPr>
              <a:t> tablas pequeñas; no leen los CSV reales ni la base.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pytest.raises(match=):</a:t>
            </a:r>
            <a:r>
              <a:rPr sz="1400">
                <a:solidFill>
                  <a:srgbClr val="1F2937"/>
                </a:solidFill>
                <a:latin typeface="Calibri"/>
              </a:rPr>
              <a:t> verifica el tipo de error y una palabra del mensaje.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Brecha:</a:t>
            </a:r>
            <a:r>
              <a:rPr sz="1400">
                <a:solidFill>
                  <a:srgbClr val="1F2937"/>
                </a:solidFill>
                <a:latin typeface="Calibri"/>
              </a:rPr>
              <a:t> indicadores.py y contexto.py no tienen pruebas propias; se validan con reconciliaciones.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7 · El dashboard: tres pestañas, solo lectura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7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914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Calibri"/>
              </a:rPr>
              <a:t>Resumen ejecutivo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3832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5 indicadores · evolución mensual del GMV · categorías (5/10/15) · tabla y descarga · top 10 vendedores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2743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914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Calibri"/>
              </a:rPr>
              <a:t>Explorar 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3832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Filtros: rango de meses y estado del cliente. Los indicadores se recalculan con la selección. El resumen no cambia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2743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914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630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Calibri"/>
              </a:rPr>
              <a:t>Calidad y definiciones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3832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Controles (sin reseña, no evaluables, sin pago, sin coordenadas, diferencia de pago) y cómo se interpreta cada indicador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51960"/>
            <a:ext cx="1124712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Solo lectura:</a:t>
            </a:r>
            <a:r>
              <a:rPr sz="1600">
                <a:solidFill>
                  <a:srgbClr val="1F2937"/>
                </a:solidFill>
                <a:latin typeface="Calibri"/>
              </a:rPr>
              <a:t> abre SQLite con ?mode=ro; no puede dañar los resultados.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Caché que se renueva sola:</a:t>
            </a:r>
            <a:r>
              <a:rPr sz="1600">
                <a:solidFill>
                  <a:srgbClr val="1F2937"/>
                </a:solidFill>
                <a:latin typeface="Calibri"/>
              </a:rPr>
              <a:t> la clave incluye la fecha de modificación de la base; el botón Actualizar datos la limpia.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FF6B1A"/>
                </a:solidFill>
                <a:latin typeface="Calibri"/>
              </a:rPr>
              <a:t>▪ Mensajes claros:</a:t>
            </a:r>
            <a:r>
              <a:rPr sz="1600">
                <a:solidFill>
                  <a:srgbClr val="1F2937"/>
                </a:solidFill>
                <a:latin typeface="Calibri"/>
              </a:rPr>
              <a:t> si falta la base indica ejecutar python pipeline.py.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Fase 7 · Cargar datos de forma segura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Fase 7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675120" cy="3108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6492240" cy="30358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>
                <a:solidFill>
                  <a:srgbClr val="FF6B1A"/>
                </a:solidFill>
                <a:latin typeface="Consolas"/>
              </a:rPr>
              <a:t># dashboard.py, líneas 30–31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@st.cache_data(max_entries=2, show_spinner="Cargando resultados...")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def cargar_datos(ruta, version):</a:t>
            </a:r>
          </a:p>
          <a:p>
            <a:r>
              <a:rPr sz="600"/>
              <a:t> </a:t>
            </a:r>
          </a:p>
          <a:p>
            <a:pPr algn="l"/>
            <a:r>
              <a:rPr sz="1100">
                <a:solidFill>
                  <a:srgbClr val="FF6B1A"/>
                </a:solidFill>
                <a:latin typeface="Consolas"/>
              </a:rPr>
              <a:t># dashboard.py, líneas 42–47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with sqlite3.connect(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Path(ruta).resolve().as_uri() + "?mode=ro",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uri=True,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) as conexion:</a:t>
            </a:r>
          </a:p>
          <a:p>
            <a:pPr algn="l"/>
            <a:r>
              <a:rPr sz="1200">
                <a:solidFill>
                  <a:srgbClr val="86EFAC"/>
                </a:solidFill>
                <a:latin typeface="Consolas"/>
              </a:rPr>
              <a:t>        # Las consultas comparten una misma instantánea de lectura.</a:t>
            </a:r>
          </a:p>
          <a:p>
            <a:pPr algn="l"/>
            <a:r>
              <a:rPr sz="1200">
                <a:solidFill>
                  <a:srgbClr val="E5E7EB"/>
                </a:solidFill>
                <a:latin typeface="Consolas"/>
              </a:rPr>
              <a:t>        conexion.execute("BEGIN")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34840"/>
            <a:ext cx="6675120" cy="18288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462272"/>
            <a:ext cx="6492240" cy="17556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>
                <a:solidFill>
                  <a:srgbClr val="FF6B1A"/>
                </a:solidFill>
                <a:latin typeface="Consolas"/>
              </a:rPr>
              <a:t># dashboard.py, líneas 21–27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def numero(valor, decimales=0):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"""Presenta números con separadores habituales en español."""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if pd.isna(valor):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    return "Sin datos"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texto = f"{valor:,.{decimales}f}"</a:t>
            </a:r>
          </a:p>
          <a:p>
            <a:pPr algn="l"/>
            <a:r>
              <a:rPr sz="1100">
                <a:solidFill>
                  <a:srgbClr val="E5E7EB"/>
                </a:solidFill>
                <a:latin typeface="Consolas"/>
              </a:rPr>
              <a:t>    return texto.replace(",", "X").replace(".", ",").replace("X", ".")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188720"/>
            <a:ext cx="4389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@st.cache_data:</a:t>
            </a:r>
            <a:r>
              <a:rPr sz="1400">
                <a:solidFill>
                  <a:srgbClr val="1F2937"/>
                </a:solidFill>
                <a:latin typeface="Calibri"/>
              </a:rPr>
              <a:t> guarda el resultado; cambiar un filtro no relee la base.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version:</a:t>
            </a:r>
            <a:r>
              <a:rPr sz="1400">
                <a:solidFill>
                  <a:srgbClr val="1F2937"/>
                </a:solidFill>
                <a:latin typeface="Calibri"/>
              </a:rPr>
              <a:t> fecha de modificación del archivo; si el pipeline regenera la base, la caché se invalida.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?mode=ro:</a:t>
            </a:r>
            <a:r>
              <a:rPr sz="1400">
                <a:solidFill>
                  <a:srgbClr val="1F2937"/>
                </a:solidFill>
                <a:latin typeface="Calibri"/>
              </a:rPr>
              <a:t> SQLite en solo lectura.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BEGIN:</a:t>
            </a:r>
            <a:r>
              <a:rPr sz="1400">
                <a:solidFill>
                  <a:srgbClr val="1F2937"/>
                </a:solidFill>
                <a:latin typeface="Calibri"/>
              </a:rPr>
              <a:t> las cuatro lecturas ven la misma instantánea.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1A"/>
                </a:solidFill>
                <a:latin typeface="Calibri"/>
              </a:rPr>
              <a:t>▪ numero():</a:t>
            </a:r>
            <a:r>
              <a:rPr sz="1400">
                <a:solidFill>
                  <a:srgbClr val="1F2937"/>
                </a:solidFill>
                <a:latin typeface="Calibri"/>
              </a:rPr>
              <a:t> cambia 13,221,498.11 por 13.221.498,11.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De cero a dashboard: la secuencia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00" cy="5029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132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# 1. Entrar al proyecto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cd /c/Users/favio/ProyectoDiplimadoPython/Dashboard360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# 2. Crear y activar el entorno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py -3.12 -m venv .venv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source .venv/Scripts/activate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# 3. Instalar y comprobar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python -m pip install -r requirements.txt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python -m pip check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# 4. Pipeline (≈ 10 s)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python pipeline.py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# 5. Pruebas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python -m pytest -v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6EFAC"/>
                </a:solidFill>
                <a:latin typeface="Consolas"/>
              </a:rPr>
              <a:t># 6. Dashboard</a:t>
            </a:r>
          </a:p>
          <a:p>
            <a:pPr algn="l"/>
            <a:r>
              <a:rPr sz="1400">
                <a:solidFill>
                  <a:srgbClr val="E5E7EB"/>
                </a:solidFill>
                <a:latin typeface="Consolas"/>
              </a:rPr>
              <a:t>python -m streamlit run dashboard.py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657600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188720"/>
            <a:ext cx="64008" cy="23774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261872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6B1A"/>
                </a:solidFill>
                <a:latin typeface="Calibri"/>
              </a:rPr>
              <a:t>Terminal nueva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645920"/>
            <a:ext cx="338328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Solo activar el entorno:
source .venv/Scripts/activate
y luego el comando que necesites.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749039"/>
            <a:ext cx="36576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749039"/>
            <a:ext cx="64008" cy="246888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22191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F6B1A"/>
                </a:solidFill>
                <a:latin typeface="Calibri"/>
              </a:rPr>
              <a:t>Requisitos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4206240"/>
            <a:ext cx="338328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Python 3.12 · los 9 CSV en data/raw/ · requirements.txt (pandas 3.1.0, pytest 9.1.1, Streamlit 1.66.1).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Preguntas de defensa: respuestas cortas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" cy="7772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2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¿Por qué solo entregados?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216152"/>
            <a:ext cx="6400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Es la población con venta concretada: 96.478 de 99.441 (97,02 %).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39112"/>
            <a:ext cx="112471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39112"/>
            <a:ext cx="64008" cy="7772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66543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¿Por qué la satisfacción se promedia primero por pedido?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066543"/>
            <a:ext cx="6400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551 pedidos tienen más de una reseña; así cada pedido pesa igual.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9504"/>
            <a:ext cx="112471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89504"/>
            <a:ext cx="64008" cy="7772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16936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¿Cómo evitas multiplicar filas?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916936"/>
            <a:ext cx="6400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Agrego a una fila por pedido, uso validate en el merge y reconcilio pedidos y GMV.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39896"/>
            <a:ext cx="112471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39896"/>
            <a:ext cx="64008" cy="7772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67328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¿Qué es idempotente aquí?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767328"/>
            <a:ext cx="6400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Ejecutar dos veces da lo mismo: to_sql con replace; comprobado con SHA-256.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90288"/>
            <a:ext cx="112471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90288"/>
            <a:ext cx="64008" cy="7772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¿Y si el proceso se corta a mitad?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617720"/>
            <a:ext cx="6400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No se comprobó; la escritura no es atómica. Es una limitación conocida.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40679"/>
            <a:ext cx="112471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440679"/>
            <a:ext cx="64008" cy="77724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68112"/>
            <a:ext cx="4480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¿Las coordenadas son exactas?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5468112"/>
            <a:ext cx="6400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No: media por prefijo postal, un punto aproximado.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Para cerrar: qué te toca 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Dashboard 360 · Guía visual de estudio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4B5563"/>
                </a:solidFill>
                <a:latin typeface="Calibr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66928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Estudiar el código línea por línea:</a:t>
            </a:r>
            <a:r>
              <a:rPr sz="1700">
                <a:solidFill>
                  <a:srgbClr val="1F2937"/>
                </a:solidFill>
                <a:latin typeface="Calibri"/>
              </a:rPr>
              <a:t> puedes ser preguntado por cualquier parte, aunque se haya apoyado el trabajo con IA.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Anotar cómo escribiste dashboard.py:</a:t>
            </a:r>
            <a:r>
              <a:rPr sz="1700">
                <a:solidFill>
                  <a:srgbClr val="1F2937"/>
                </a:solidFill>
                <a:latin typeface="Calibri"/>
              </a:rPr>
              <a:t> los docs 01–06 no registran sus pasos.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Completar la portada:</a:t>
            </a:r>
            <a:r>
              <a:rPr sz="1700">
                <a:solidFill>
                  <a:srgbClr val="1F2937"/>
                </a:solidFill>
                <a:latin typeface="Calibri"/>
              </a:rPr>
              <a:t> nombres de los integrantes y fecha.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FF6B1A"/>
                </a:solidFill>
                <a:latin typeface="Calibri"/>
              </a:rPr>
              <a:t>▪ Ensayar la demo:</a:t>
            </a:r>
            <a:r>
              <a:rPr sz="1700">
                <a:solidFill>
                  <a:srgbClr val="1F2937"/>
                </a:solidFill>
                <a:latin typeface="Calibri"/>
              </a:rPr>
              <a:t> python pipeline.py y luego el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03520" cy="228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64008" cy="228600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353312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F6B1A"/>
                </a:solidFill>
                <a:latin typeface="Calibri"/>
              </a:rPr>
              <a:t>Honestidad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737360"/>
            <a:ext cx="5029200" cy="1783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Brechas conocidas: pruebas solo de etl.py; escritura no atómica; moneda no declarada; API externa e IA local son opcionales y no están.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749039"/>
            <a:ext cx="530352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749039"/>
            <a:ext cx="64008" cy="2468880"/>
          </a:xfrm>
          <a:prstGeom prst="rect">
            <a:avLst/>
          </a:prstGeom>
          <a:solidFill>
            <a:srgbClr val="FF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822191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FF6B1A"/>
                </a:solidFill>
                <a:latin typeface="Calibri"/>
              </a:rPr>
              <a:t>Documentos de estudio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4206240"/>
            <a:ext cx="502920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Guia_de_estudio_Dashboard360.md (proceso completo)
Referencia_rapida_Dashboard360.md (comandos, cifras y 25 preguntas)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